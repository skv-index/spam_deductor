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3-CLASS SCAM &amp; SPAM MESSAGE DETECTION</a:t>
            </a:r>
          </a:p>
          <a:p>
            <a:pPr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Using NLP, Dual-Branch Feature Engineering, and Explainable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TEAM (SEMESTER 5 | ML LAB CAT-2)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</a:defRPr>
            </a:pPr>
            <a:r>
              <a:t>• Vignesh S K (2403717673721046)   • Devi Prasath G (2403717673721011)   • Arul Ronal X (2403717673721050)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The 3-Class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The Shortcoming of Traditional Binary Filters: </a:t>
            </a:r>
            <a:r>
              <a:rPr b="0" sz="1300">
                <a:solidFill>
                  <a:srgbClr val="475569"/>
                </a:solidFill>
              </a:rPr>
              <a:t>Standard datasets (e.g. UCI Spam) treat spam as binary (spam vs. ham). In real life, grouping harmless flash sales with predatory financial smishing creates severe trade-offs.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Catastrophic Real-World Consequences: </a:t>
            </a:r>
            <a:r>
              <a:rPr b="0" sz="1300">
                <a:solidFill>
                  <a:srgbClr val="475569"/>
                </a:solidFill>
              </a:rPr>
              <a:t>1. If you under-block to avoid customer complaints, dangerous phishing messages steal banking credentials and OTPs.
2. If you over-block aggressively, legitimate marketing and discounts get discarded, hurting businesses.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Our Solution - 3-Class Granular Architecture: </a:t>
            </a:r>
            <a:r>
              <a:rPr b="0" sz="1300">
                <a:solidFill>
                  <a:srgbClr val="475569"/>
                </a:solidFill>
              </a:rPr>
              <a:t>1. Legitimate: Genuine personal or transactional SMS (e.g., OTPs, personal chats).
2. Promotional Spam: Commercial marketing, offers, flash sales (soft-filter/folder).
3. Scam / Smishing: High-risk phishing, fake KYC threats, banking fraud (hard-quarantine).</a:t>
            </a:r>
          </a:p>
          <a:p>
            <a:pPr>
              <a:spcBef>
                <a:spcPts val="1000"/>
              </a:spcBef>
              <a:defRPr b="1" sz="1400">
                <a:solidFill>
                  <a:srgbClr val="0F172A"/>
                </a:solidFill>
              </a:defRPr>
            </a:pPr>
            <a:r>
              <a:t>Key Contribution: </a:t>
            </a:r>
            <a:r>
              <a:rPr b="0" sz="1300">
                <a:solidFill>
                  <a:srgbClr val="475569"/>
                </a:solidFill>
              </a:rPr>
              <a:t>Engineered a production-ready ML system combining 5,000 TF-IDF n-grams with 12 structural/heuristic features, delivering 95.4% scam recall and transparent LIME/SHAP explainability.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Dataset Consolidation &amp;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50"/>
            </a:pPr>
            <a:r>
              <a:t>Multi-Source Synthesis (78,310 Samples):</a:t>
            </a:r>
            <a:br/>
            <a:r>
              <a:rPr b="0" sz="1250"/>
              <a:t>Merged UCI SMS Spam Collection + Multi-Source Smishing Corpus + Phishing Message Archives to eliminate single-source bias.</a:t>
            </a:r>
          </a:p>
          <a:p>
            <a:pPr>
              <a:spcBef>
                <a:spcPts val="800"/>
              </a:spcBef>
              <a:defRPr b="1" sz="1350"/>
            </a:pPr>
            <a:r>
              <a:t>Class Distribution:</a:t>
            </a:r>
            <a:br/>
            <a:r>
              <a:rPr b="0" sz="1250"/>
              <a:t>• Legitimate: 57.4% (~44,950)
• Scam/Smishing: 33.5% (~26,215)
• Promotional Spam: 9.1% (~7,145)</a:t>
            </a:r>
          </a:p>
          <a:p>
            <a:pPr>
              <a:spcBef>
                <a:spcPts val="800"/>
              </a:spcBef>
              <a:defRPr b="1" sz="1350"/>
            </a:pPr>
            <a:r>
              <a:t>Specialized Regex Token Normalization:</a:t>
            </a:r>
            <a:br/>
            <a:r>
              <a:rPr b="0" sz="1250"/>
              <a:t>• URLs replaced with '&lt;URL&gt;' token while extracting link metrics.
• Phone numbers replaced with '&lt;PHONE&gt;'.
• Monetary expressions ($/Rs) mapped to '&lt;MONEY&gt;'.</a:t>
            </a:r>
          </a:p>
          <a:p>
            <a:pPr>
              <a:spcBef>
                <a:spcPts val="800"/>
              </a:spcBef>
              <a:defRPr b="1" sz="1350"/>
            </a:pPr>
            <a:r>
              <a:t>Stratified Split:</a:t>
            </a:r>
            <a:br/>
            <a:r>
              <a:rPr b="0" sz="1250"/>
              <a:t>80% Train (62,648 rows) / 20% Test (15,662 rows) preserving exact class ratios.</a:t>
            </a:r>
          </a:p>
        </p:txBody>
      </p:sp>
      <p:pic>
        <p:nvPicPr>
          <p:cNvPr id="5" name="Picture 4" descr="01_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37760" cy="28215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Dual-Branch Feature 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/>
            </a:pPr>
            <a:r>
              <a:t>Branch A: Lexical TF-IDF Vectorization</a:t>
            </a:r>
            <a:br/>
            <a:r>
              <a:rPr b="0" sz="1200"/>
              <a:t>• 5,000 max features, n-gram range (1, 2) unigrams and bigrams.
• Captures composite attack phrases: 'verify otp', 'account suspended', 'click here'.</a:t>
            </a:r>
          </a:p>
          <a:p>
            <a:pPr>
              <a:spcBef>
                <a:spcPts val="800"/>
              </a:spcBef>
              <a:defRPr b="1" sz="1300"/>
            </a:pPr>
            <a:r>
              <a:t>Branch B: 12 Heuristic / Structural Signals</a:t>
            </a:r>
            <a:br/>
            <a:r>
              <a:rPr b="0" sz="1200"/>
              <a:t>1. msg_length &amp; word_count: Message verbosity.
2. url_count &amp; has_url: Direct link prevalence.
3. has_shortener: bit.ly, tinyurl, goo.gl domain matching.
4. has_phone &amp; has_money: Callbacks &amp; prize numbers.
5. uppercase_ratio: Measure of panic / aggressive shouting.
6. urgency_hits &amp; has_urgency: Lexicon match for 22 urgency triggers ('blocked', 'immediate', 'kyc', 'expire').</a:t>
            </a:r>
          </a:p>
          <a:p>
            <a:pPr>
              <a:spcBef>
                <a:spcPts val="800"/>
              </a:spcBef>
              <a:defRPr b="1" sz="1300"/>
            </a:pPr>
            <a:r>
              <a:t>Unified Sparse Assembly:</a:t>
            </a:r>
            <a:br/>
            <a:r>
              <a:rPr b="0" sz="1200"/>
              <a:t>scipy.sparse.hstack combines text sparse matrix with dense structural signals into a unified feature tensor.</a:t>
            </a:r>
          </a:p>
        </p:txBody>
      </p:sp>
      <p:pic>
        <p:nvPicPr>
          <p:cNvPr id="5" name="Picture 4" descr="03_structural_c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0292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Multi-Model Comparison &amp; Evaluation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18011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Model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Macro 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Macro 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Macro 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1"/>
                        <a:t>XGBoost (Winner)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95.22%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0.9261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0.9080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0.9165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/>
                        <a:t>MLP Neural Net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95.13%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0.9219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0.9014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0.9111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94.06%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0.8838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/>
                        <a:t>Linear SVM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93.07%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0.8724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0.8933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0.8821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84.65%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0.7648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200"/>
                        <a:t>Multinomial Naive Bayes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85.84%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0.8028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0.7376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0.7625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Key Takeaway: XGBoost outperformed linear and tree alternatives because it captures non-linear synergies between structural heuristics (e.g. url shorteners + urgency flags) and sparse vocabulary bigrams.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Detailed Class-Wise Performance (XGBoost)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50"/>
            </a:pPr>
            <a:r>
              <a:t>Legitimate Class (Support: 8,990):</a:t>
            </a:r>
            <a:br/>
            <a:r>
              <a:rPr b="0" sz="1250"/>
              <a:t>• Precision: 96.9% | Recall: 97.6% | F1: 0.973
• Only 2.3% genuine messages flagged (minimal user disruption).</a:t>
            </a:r>
          </a:p>
          <a:p>
            <a:pPr>
              <a:spcBef>
                <a:spcPts val="800"/>
              </a:spcBef>
              <a:defRPr b="1" sz="1350"/>
            </a:pPr>
            <a:r>
              <a:t>Scam / Smishing Class (Support: 5,243):</a:t>
            </a:r>
            <a:br/>
            <a:r>
              <a:rPr b="0" sz="1250"/>
              <a:t>• Precision: 94.6% | Recall: 95.4% | F1: 0.950
• 5,002 out of 5,243 aggressive smishing attacks captured!</a:t>
            </a:r>
          </a:p>
          <a:p>
            <a:pPr>
              <a:spcBef>
                <a:spcPts val="800"/>
              </a:spcBef>
              <a:defRPr b="1" sz="1350"/>
            </a:pPr>
            <a:r>
              <a:t>Promotional Spam Class (Support: 1,429):</a:t>
            </a:r>
            <a:br/>
            <a:r>
              <a:rPr b="0" sz="1250"/>
              <a:t>• Precision: 86.4% | Recall: 79.4% | F1: 0.827
• Successfully separated commercial flyers from cybercrime threats.</a:t>
            </a:r>
          </a:p>
          <a:p>
            <a:pPr>
              <a:spcBef>
                <a:spcPts val="800"/>
              </a:spcBef>
              <a:defRPr b="1" sz="1350"/>
            </a:pPr>
            <a:r>
              <a:t>Total Test Set Size:</a:t>
            </a:r>
            <a:br/>
            <a:r>
              <a:rPr b="0" sz="1250"/>
              <a:t>15,662 stratified samples evaluated without leakage.</a:t>
            </a:r>
          </a:p>
        </p:txBody>
      </p:sp>
      <p:pic>
        <p:nvPicPr>
          <p:cNvPr id="5" name="Picture 4" descr="cm_normalized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75488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Explainable AI (XAI): LIME &amp; SHAP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50"/>
            </a:pPr>
            <a:r>
              <a:t>Why Explainability Matters in Telecom/Security:</a:t>
            </a:r>
            <a:br/>
            <a:r>
              <a:rPr b="0" sz="1250"/>
              <a:t>Black-box AI cannot be trusted blindly. If a message is blocked, both security analysts and end-users need to know the exact justification.</a:t>
            </a:r>
          </a:p>
          <a:p>
            <a:pPr>
              <a:spcBef>
                <a:spcPts val="800"/>
              </a:spcBef>
              <a:defRPr b="1" sz="1350"/>
            </a:pPr>
            <a:r>
              <a:t>Local Explanations via LIME:</a:t>
            </a:r>
            <a:br/>
            <a:r>
              <a:rPr b="0" sz="1250"/>
              <a:t>• Evaluates word perturbations for each incoming SMS.
• Smishing triggers: 'kyc', 'blocked', 'verify', 'immediate', '&lt;URL&gt;'.
• Promotional triggers: 'off', 'sale', 'flat', 'stores', '&lt;MONEY&gt;'.</a:t>
            </a:r>
          </a:p>
          <a:p>
            <a:pPr>
              <a:spcBef>
                <a:spcPts val="800"/>
              </a:spcBef>
              <a:defRPr b="1" sz="1350"/>
            </a:pPr>
            <a:r>
              <a:t>Global Feature Importance (XGBoost Gain &amp; SHAP):</a:t>
            </a:r>
            <a:br/>
            <a:r>
              <a:rPr b="0" sz="1250"/>
              <a:t>Top overall signals: 'off', 'urgency_hits', 'has_url', 'url_count', 'word_count', 'msg_length', 'download', 'fee'.</a:t>
            </a:r>
          </a:p>
          <a:p>
            <a:pPr>
              <a:spcBef>
                <a:spcPts val="800"/>
              </a:spcBef>
              <a:defRPr b="1" sz="1350"/>
            </a:pPr>
            <a:r>
              <a:t>Validation:</a:t>
            </a:r>
            <a:br/>
            <a:r>
              <a:rPr b="0" sz="1250"/>
              <a:t>Proves that structural cues are in the top 5 global decision factors.</a:t>
            </a:r>
          </a:p>
        </p:txBody>
      </p:sp>
      <p:pic>
        <p:nvPicPr>
          <p:cNvPr id="5" name="Picture 4" descr="06_top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93776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In-Depth Error Analysis &amp; Misclassifications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400"/>
            </a:pPr>
            <a:r>
              <a:t>Overall Test Error Rate:</a:t>
            </a:r>
            <a:br/>
            <a:r>
              <a:rPr b="0" sz="1300"/>
              <a:t>Only 748 errors out of 15,662 samples (4.78% error rate, 95.22% accuracy).</a:t>
            </a:r>
          </a:p>
          <a:p>
            <a:pPr>
              <a:spcBef>
                <a:spcPts val="800"/>
              </a:spcBef>
              <a:defRPr b="1" sz="1400"/>
            </a:pPr>
            <a:r>
              <a:t>1. Critical Error: Scam Missed as Legitimate (129 Cases | 0.82%):</a:t>
            </a:r>
            <a:br/>
            <a:r>
              <a:rPr b="0" sz="1300"/>
              <a:t>Conversational impersonation attacks ('Hi Dad, I broke my phone, this is my new WhatsApp'). They lack hyperlinks, money mentions, or urgency words on the first turn. Remedy: Multi-turn conversational context.</a:t>
            </a:r>
          </a:p>
          <a:p>
            <a:pPr>
              <a:spcBef>
                <a:spcPts val="800"/>
              </a:spcBef>
              <a:defRPr b="1" sz="1400"/>
            </a:pPr>
            <a:r>
              <a:t>2. False Positives: Legitimate Flagged as Spam/Scam (212 Cases):</a:t>
            </a:r>
            <a:br/>
            <a:r>
              <a:rPr b="0" sz="1300"/>
              <a:t>Occurs when personal messages discuss money or contain shortened links (e.g. friend sharing a bit.ly link to a photo album).</a:t>
            </a:r>
          </a:p>
          <a:p>
            <a:pPr>
              <a:spcBef>
                <a:spcPts val="800"/>
              </a:spcBef>
              <a:defRPr b="1" sz="1400"/>
            </a:pPr>
            <a:r>
              <a:t>3. Promo vs. Scam Confusion (255 Cases):</a:t>
            </a:r>
            <a:br/>
            <a:r>
              <a:rPr b="0" sz="1300"/>
              <a:t>Aggressive marketing that borrows scam tactics ('URGENT: 50% discount expires in 10 mins. Click now!') blurs boundaries. Remedy: Sender-ID whitelisting.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Deployment &amp; Streamlit UI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400"/>
            </a:pPr>
            <a:r>
              <a:t>Real-Time Single Message Classifier:</a:t>
            </a:r>
            <a:br/>
            <a:r>
              <a:rPr b="0" sz="1300"/>
              <a:t>• Quick preset sample buttons for instant demo.
• Dynamic badge rendering (Green: Legitimate, Orange: Promotional Spam, Red: Scam/Smishing).
• Class probability distribution bar charts.</a:t>
            </a:r>
          </a:p>
          <a:p>
            <a:pPr>
              <a:spcBef>
                <a:spcPts val="800"/>
              </a:spcBef>
              <a:defRPr b="1" sz="1400"/>
            </a:pPr>
            <a:r>
              <a:t>Transparent Decision Reasoning (Explainability Drawer):</a:t>
            </a:r>
            <a:br/>
            <a:r>
              <a:rPr b="0" sz="1300"/>
              <a:t>• Shows extracted trigger keywords (e.g., OTP, verify, KYC, link).
• Displays structural telemetry JSON (has_url, urgency_count, uppercase_ratio).</a:t>
            </a:r>
          </a:p>
          <a:p>
            <a:pPr>
              <a:spcBef>
                <a:spcPts val="800"/>
              </a:spcBef>
              <a:defRPr b="1" sz="1400"/>
            </a:pPr>
            <a:r>
              <a:t>High-Throughput Batch CSV Screening:</a:t>
            </a:r>
            <a:br/>
            <a:r>
              <a:rPr b="0" sz="1300"/>
              <a:t>• Upload CSV datasets containing hundreds of SMS records.
• Interactive paginated table display.
• 1-Click download of predicted CSV audit reports.</a:t>
            </a:r>
          </a:p>
          <a:p>
            <a:pPr>
              <a:spcBef>
                <a:spcPts val="800"/>
              </a:spcBef>
              <a:defRPr b="1" sz="1400"/>
            </a:pPr>
            <a:r>
              <a:t>Production Readiness:</a:t>
            </a:r>
            <a:br/>
            <a:r>
              <a:rPr b="0" sz="1300"/>
              <a:t>Lightweight serialized pickle artifact (models/best_model.pkl, 2.0 MB) executes sub-10ms inference per 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Business Insights &amp; Telecom Policy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400"/>
            </a:pPr>
            <a:r>
              <a:t>1. Tiered Enforcement Strategy for Telecom Operators:</a:t>
            </a:r>
            <a:br/>
            <a:r>
              <a:rPr b="0" sz="1300"/>
              <a:t>• Legitimate: Route directly to Primary Inbox.
• Promotional Spam: Route to a separate 'Promotions' folder (no notification sound).
• Scam/Smishing: Immediate quarantine with a user warning banner.</a:t>
            </a:r>
          </a:p>
          <a:p>
            <a:pPr>
              <a:spcBef>
                <a:spcPts val="800"/>
              </a:spcBef>
              <a:defRPr b="1" sz="1400"/>
            </a:pPr>
            <a:r>
              <a:t>2. Asymmetric Cost Awareness:</a:t>
            </a:r>
            <a:br/>
            <a:r>
              <a:rPr b="0" sz="1300"/>
              <a:t>In financial cybersecurity, 1 missed scam causing a $1,000 theft is 100x worse than over-filtering a 20% shoe coupon. The model's threshold is tuned to maximize scam recall (95.4%).</a:t>
            </a:r>
          </a:p>
          <a:p>
            <a:pPr>
              <a:spcBef>
                <a:spcPts val="800"/>
              </a:spcBef>
              <a:defRPr b="1" sz="1400"/>
            </a:pPr>
            <a:r>
              <a:t>3. Continuous Retraining Pipeline:</a:t>
            </a:r>
            <a:br/>
            <a:r>
              <a:rPr b="0" sz="1300"/>
              <a:t>When users flag false positives or report novel smishing SMS, incoming samples feed into run_phase1.py and run_phase2.py for periodic model updates.</a:t>
            </a:r>
          </a:p>
          <a:p>
            <a:pPr>
              <a:spcBef>
                <a:spcPts val="800"/>
              </a:spcBef>
              <a:defRPr b="1" sz="1400"/>
            </a:pPr>
            <a:r>
              <a:t>4. Explainability Drives User Compliance:</a:t>
            </a:r>
            <a:br/>
            <a:r>
              <a:rPr b="0" sz="1300"/>
              <a:t>Showing users WHY a message was flagged teaches them to spot suspicious bit.ly links and urgent OTP traps.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ML LAB PROJECT (CAT-2)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400"/>
            </a:pPr>
            <a:r>
              <a:t>Project Achievements:</a:t>
            </a:r>
            <a:br/>
            <a:r>
              <a:rPr b="0" sz="1300"/>
              <a:t>• Successfully transitioned SMS security from flawed binary labels to a 3-class taxonomy.
• Synthesized a 78k message corpus and engineered dual-branch lexical + structural features.
• XGBoost delivered 95.22% accuracy and 0.9165 Macro F1, catching 95.4% of smishing attempts.
• Complete explainability (LIME/SHAP) and responsive Streamlit UI.</a:t>
            </a:r>
          </a:p>
          <a:p>
            <a:pPr>
              <a:spcBef>
                <a:spcPts val="1000"/>
              </a:spcBef>
              <a:defRPr b="1" sz="1400"/>
            </a:pPr>
            <a:r>
              <a:t>Future Roadmap &amp; Enhancements:</a:t>
            </a:r>
            <a:br/>
            <a:r>
              <a:rPr b="0" sz="1300"/>
              <a:t>• Multilingual &amp; Code-Mixed NLP: Train models on Romanized regional languages (Hinglish, Tanglish).
• Real-Time Threat Intelligence APIs: Query VirusTotal / Google Safe Browsing on detected URLs.
• On-Device Edge Deployment: Quantize the XGBoost / DistilBERT pipeline for Android APK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600"/>
              </a:spcBef>
              <a:defRPr sz="2200">
                <a:solidFill>
                  <a:srgbClr val="38BDF8"/>
                </a:solidFill>
              </a:defRPr>
            </a:pPr>
            <a:r>
              <a:t>Open for Questions &amp; Viva Examination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